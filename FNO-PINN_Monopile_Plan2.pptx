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7A0525-1B59-D975-DABA-A7AFDB7CA8F2}">
          <p14:sldIdLst>
            <p14:sldId id="256"/>
            <p14:sldId id="257"/>
          </p14:sldIdLst>
        </p14:section>
        <p14:section name="Method" id="{6454D05A-0262-ADC8-8D4B-15C94D308F32}">
          <p14:sldIdLst>
            <p14:sldId id="258"/>
          </p14:sldIdLst>
        </p14:section>
        <p14:section name="Plan" id="{7B8803C2-3D58-2CB6-DBD8-FBFC011F9DA7}">
          <p14:sldIdLst>
            <p14:sldId id="259"/>
          </p14:sldIdLst>
        </p14:section>
        <p14:section name="Semester 1" id="{C32B8FDA-A618-2B4B-FC59-A25BD202118D}">
          <p14:sldIdLst>
            <p14:sldId id="261"/>
          </p14:sldIdLst>
        </p14:section>
        <p14:section name="Semester 2" id="{CAF5189F-EB7E-F1E3-2E7B-20CCF2F42C3F}">
          <p14:sldIdLst/>
        </p14:section>
        <p14:section name="Tools" id="{1A2956DF-F692-AD31-BD9F-8FC9D305792B}">
          <p14:sldIdLst>
            <p14:sldId id="264"/>
          </p14:sldIdLst>
        </p14:section>
        <p14:section name="Risks" id="{DADC6ED7-4116-38C4-48A7-4E12079A589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8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in one line: train an AI model on many computer simulations so it can predict, in under a second, how the seabed and a monopile respond when waves and an earthquake hit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Waves raise pore pressure before the earthquake arrives, which is why the combination is dangerous. FE tools like OpenSees are accurate but slow, so we build a surrogate.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1–3 are simulation work, steps 4–5 machine learning. The physics loss only enforces laws our nonlinear soil actually obeys.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1 ends on Nov 10, 2026, so it is compressed to 5 weeks. The 2D pile model moves into the break; Semester 2 opens with the full dataset. Break length assumed at about 4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Semester 1 presentation: problem and gap, checked soil model, mini-surrogate results, load generator examples, and the pile model plan for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free or open source. The free Kaggle tier is enough for both simulations (4 CPU cores, background sessions) and FNO training if HPC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FNO-PINN Monopile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 fast AI surrogate for offshore wind monopiles under waves and earthquakes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59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Two-semester plan: work, expected results, technologies and methods</a:t>
            </a:r>
          </a:p>
        </p:txBody>
      </p:sp>
      <p:sp>
        <p:nvSpPr>
          <p:cNvPr id="4" name="Waves circle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ave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365760" cy="365760"/>
          </a:xfrm>
          <a:prstGeom prst="rect">
            <a:avLst/>
          </a:prstGeom>
        </p:spPr>
      </p:pic>
      <p:sp>
        <p:nvSpPr>
          <p:cNvPr id="6" name="Earthquake circle"/>
          <p:cNvSpPr/>
          <p:nvPr/>
        </p:nvSpPr>
        <p:spPr>
          <a:xfrm>
            <a:off x="1645920" y="731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Earthquak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9144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this matters: combined loads weaken the seabed</a:t>
            </a:r>
            <a:endParaRPr lang="en-US" sz="3400" dirty="0"/>
          </a:p>
        </p:txBody>
      </p:sp>
      <p:sp>
        <p:nvSpPr>
          <p:cNvPr id="3" name="Waves circle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Wave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44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Waves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470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Thousands of slow pushes in a storm raise pore-water pressure around the pile.</a:t>
            </a:r>
            <a:endParaRPr lang="en-US" sz="1500" dirty="0"/>
          </a:p>
        </p:txBody>
      </p:sp>
      <p:sp>
        <p:nvSpPr>
          <p:cNvPr id="7" name="Earthquake circle"/>
          <p:cNvSpPr/>
          <p:nvPr/>
        </p:nvSpPr>
        <p:spPr>
          <a:xfrm>
            <a:off x="548640" y="2926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Earthquak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907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Earthquake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3101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20–40 s of strong shaking can push the already-weakened sand towards liquefaction.</a:t>
            </a:r>
            <a:endParaRPr lang="en-US" sz="1500" dirty="0"/>
          </a:p>
        </p:txBody>
      </p:sp>
      <p:sp>
        <p:nvSpPr>
          <p:cNvPr id="11" name="Simulation is slow circle"/>
          <p:cNvSpPr/>
          <p:nvPr/>
        </p:nvSpPr>
        <p:spPr>
          <a:xfrm>
            <a:off x="548640" y="43891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imulation is slow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370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Simulation is slow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7731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realistic finite element run takes hours; risk checks need thousands of scenarios.</a:t>
            </a:r>
            <a:endParaRPr lang="en-US" sz="1500" dirty="0"/>
          </a:p>
        </p:txBody>
      </p:sp>
      <p:sp>
        <p:nvSpPr>
          <p:cNvPr id="15" name="Idea card"/>
          <p:cNvSpPr/>
          <p:nvPr/>
        </p:nvSpPr>
        <p:spPr>
          <a:xfrm>
            <a:off x="7040880" y="1417320"/>
            <a:ext cx="457200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066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2860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the slow simulator about 1,000 times, once.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Train a Fourier Neural Operator (FNO) to copy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a physics check (balance laws) to the training loss.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 pore pressure and pile tilt in under 1 second.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4754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Research question: does the physics check reduce error when training data is scarce?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Methodology: from simulations to a sub-second model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1. Generate loads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Scaled earthquake records + random sea states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1518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1178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 circle"/>
          <p:cNvSpPr/>
          <p:nvPr/>
        </p:nvSpPr>
        <p:spPr>
          <a:xfrm>
            <a:off x="34518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89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2. Simulate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4894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2D OpenSees soil–pile model, nonlinear sand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87832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07492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3 circle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874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3. Build dataset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~1,000 runs on a regular grid, held-out quakes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4146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3806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4 circle"/>
          <p:cNvSpPr/>
          <p:nvPr/>
        </p:nvSpPr>
        <p:spPr>
          <a:xfrm>
            <a:off x="797814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874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52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4. Train FNO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47522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Load histories → pore-pressure field + tilt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04604" y="2606040"/>
            <a:ext cx="146304" cy="256032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01200" y="1463040"/>
            <a:ext cx="2011680" cy="251460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 5 circle"/>
          <p:cNvSpPr/>
          <p:nvPr/>
        </p:nvSpPr>
        <p:spPr>
          <a:xfrm>
            <a:off x="1024128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Step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18745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5. Predict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73836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New scenario answered in under 1 second</a:t>
            </a:r>
            <a:endParaRPr lang="en-US" sz="1400" dirty="0"/>
          </a:p>
        </p:txBody>
      </p:sp>
      <p:sp>
        <p:nvSpPr>
          <p:cNvPr id="32" name="Physics card"/>
          <p:cNvSpPr/>
          <p:nvPr/>
        </p:nvSpPr>
        <p:spPr>
          <a:xfrm>
            <a:off x="548640" y="434340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Physics circle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Physics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55448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Physics-informed loss (the PINN part)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1554480" y="4983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Loss = data error + λ × balance-law residual. Only force balance and water mass balance are enforced, since our sand is nonlinear.</a:t>
            </a:r>
            <a:endParaRPr lang="en-US" sz="1400" dirty="0"/>
          </a:p>
        </p:txBody>
      </p:sp>
      <p:sp>
        <p:nvSpPr>
          <p:cNvPr id="37" name="Validation card"/>
          <p:cNvSpPr/>
          <p:nvPr/>
        </p:nvSpPr>
        <p:spPr>
          <a:xfrm>
            <a:off x="6172200" y="434340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Validation circle"/>
          <p:cNvSpPr/>
          <p:nvPr/>
        </p:nvSpPr>
        <p:spPr>
          <a:xfrm>
            <a:off x="6400800" y="45720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9" name="Validation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9390" y="4720590"/>
            <a:ext cx="297180" cy="29718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7804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we check it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78040" y="4983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on earthquakes never seen in training, compare against an LSTM baseline, and report errors on engineering numbers.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Timeline: simulation first, machine learning second</a:t>
            </a:r>
            <a:endParaRPr lang="en-US" sz="3400" dirty="0"/>
          </a:p>
        </p:txBody>
      </p:sp>
      <p:sp>
        <p:nvSpPr>
          <p:cNvPr id="3" name="Sem 1 · Oct 7–Nov 10 header"/>
          <p:cNvSpPr/>
          <p:nvPr/>
        </p:nvSpPr>
        <p:spPr>
          <a:xfrm>
            <a:off x="3675888" y="1371600"/>
            <a:ext cx="1554480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75888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Sem 1 · Oct 7–Nov 10</a:t>
            </a:r>
            <a:endParaRPr lang="en-US" sz="1200" dirty="0"/>
          </a:p>
        </p:txBody>
      </p:sp>
      <p:sp>
        <p:nvSpPr>
          <p:cNvPr id="5" name="Break header"/>
          <p:cNvSpPr/>
          <p:nvPr/>
        </p:nvSpPr>
        <p:spPr>
          <a:xfrm>
            <a:off x="5266944" y="1371600"/>
            <a:ext cx="1236269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66944" y="1371600"/>
            <a:ext cx="1236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Break</a:t>
            </a:r>
            <a:endParaRPr lang="en-US" sz="1200" dirty="0"/>
          </a:p>
        </p:txBody>
      </p:sp>
      <p:sp>
        <p:nvSpPr>
          <p:cNvPr id="7" name="Semester 2 · ~16 weeks header"/>
          <p:cNvSpPr/>
          <p:nvPr/>
        </p:nvSpPr>
        <p:spPr>
          <a:xfrm>
            <a:off x="6539789" y="1371600"/>
            <a:ext cx="5054803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9789" y="1371600"/>
            <a:ext cx="50548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Semester 2 · ~16 weeks</a:t>
            </a:r>
            <a:endParaRPr lang="en-US" sz="1200" dirty="0"/>
          </a:p>
        </p:txBody>
      </p:sp>
      <p:sp>
        <p:nvSpPr>
          <p:cNvPr id="9" name="Break band"/>
          <p:cNvSpPr/>
          <p:nvPr/>
        </p:nvSpPr>
        <p:spPr>
          <a:xfrm>
            <a:off x="5248656" y="1783080"/>
            <a:ext cx="1272845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Scope, reading, tool warm-up</a:t>
            </a:r>
            <a:endParaRPr lang="en-US" sz="1300" dirty="0"/>
          </a:p>
        </p:txBody>
      </p:sp>
      <p:sp>
        <p:nvSpPr>
          <p:cNvPr id="11" name="Bar Scope, reading, tool warm-up"/>
          <p:cNvSpPr/>
          <p:nvPr/>
        </p:nvSpPr>
        <p:spPr>
          <a:xfrm>
            <a:off x="3685032" y="1911096"/>
            <a:ext cx="581558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31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Soil column + benchmark</a:t>
            </a:r>
            <a:endParaRPr lang="en-US" sz="1300" dirty="0"/>
          </a:p>
        </p:txBody>
      </p:sp>
      <p:sp>
        <p:nvSpPr>
          <p:cNvPr id="13" name="Bar Soil column + benchmark"/>
          <p:cNvSpPr/>
          <p:nvPr/>
        </p:nvSpPr>
        <p:spPr>
          <a:xfrm>
            <a:off x="3685032" y="2267712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Load generator</a:t>
            </a:r>
            <a:endParaRPr lang="en-US" sz="1300" dirty="0"/>
          </a:p>
        </p:txBody>
      </p:sp>
      <p:sp>
        <p:nvSpPr>
          <p:cNvPr id="15" name="Bar Load generator"/>
          <p:cNvSpPr/>
          <p:nvPr/>
        </p:nvSpPr>
        <p:spPr>
          <a:xfrm>
            <a:off x="4003243" y="2624328"/>
            <a:ext cx="581558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44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Mini-surrogate (soil column)</a:t>
            </a:r>
            <a:endParaRPr lang="en-US" sz="1300" dirty="0"/>
          </a:p>
        </p:txBody>
      </p:sp>
      <p:sp>
        <p:nvSpPr>
          <p:cNvPr id="17" name="Bar Mini-surrogate (soil column)"/>
          <p:cNvSpPr/>
          <p:nvPr/>
        </p:nvSpPr>
        <p:spPr>
          <a:xfrm>
            <a:off x="4321454" y="2980944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3009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Sem 1 report + review</a:t>
            </a:r>
            <a:endParaRPr lang="en-US" sz="1300" dirty="0"/>
          </a:p>
        </p:txBody>
      </p:sp>
      <p:sp>
        <p:nvSpPr>
          <p:cNvPr id="19" name="Bar Sem 1 report + review"/>
          <p:cNvSpPr/>
          <p:nvPr/>
        </p:nvSpPr>
        <p:spPr>
          <a:xfrm>
            <a:off x="4957877" y="3337560"/>
            <a:ext cx="263347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2D pile model + pilot runs</a:t>
            </a:r>
            <a:endParaRPr lang="en-US" sz="1300" dirty="0"/>
          </a:p>
        </p:txBody>
      </p:sp>
      <p:sp>
        <p:nvSpPr>
          <p:cNvPr id="21" name="Bar 2D pile model + pilot runs"/>
          <p:cNvSpPr/>
          <p:nvPr/>
        </p:nvSpPr>
        <p:spPr>
          <a:xfrm>
            <a:off x="5276088" y="3694176"/>
            <a:ext cx="1854403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14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Full dataset (~1,000 runs)</a:t>
            </a:r>
            <a:endParaRPr lang="en-US" sz="1300" dirty="0"/>
          </a:p>
        </p:txBody>
      </p:sp>
      <p:sp>
        <p:nvSpPr>
          <p:cNvPr id="23" name="Bar Full dataset (~1,000 runs)"/>
          <p:cNvSpPr/>
          <p:nvPr/>
        </p:nvSpPr>
        <p:spPr>
          <a:xfrm>
            <a:off x="6867144" y="4050792"/>
            <a:ext cx="1536192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70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Baseline tilt model</a:t>
            </a:r>
            <a:endParaRPr lang="en-US" sz="1300" dirty="0"/>
          </a:p>
        </p:txBody>
      </p:sp>
      <p:sp>
        <p:nvSpPr>
          <p:cNvPr id="25" name="Bar Baseline tilt model"/>
          <p:cNvSpPr/>
          <p:nvPr/>
        </p:nvSpPr>
        <p:spPr>
          <a:xfrm>
            <a:off x="7821778" y="4407408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27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Full-field FNO</a:t>
            </a:r>
            <a:endParaRPr lang="en-US" sz="1300" dirty="0"/>
          </a:p>
        </p:txBody>
      </p:sp>
      <p:sp>
        <p:nvSpPr>
          <p:cNvPr id="27" name="Bar Full-field FNO"/>
          <p:cNvSpPr/>
          <p:nvPr/>
        </p:nvSpPr>
        <p:spPr>
          <a:xfrm>
            <a:off x="8458200" y="4764024"/>
            <a:ext cx="1217981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0840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Physics loss experiment</a:t>
            </a:r>
            <a:endParaRPr lang="en-US" sz="1300" dirty="0"/>
          </a:p>
        </p:txBody>
      </p:sp>
      <p:sp>
        <p:nvSpPr>
          <p:cNvPr id="29" name="Bar Physics loss experiment"/>
          <p:cNvSpPr/>
          <p:nvPr/>
        </p:nvSpPr>
        <p:spPr>
          <a:xfrm>
            <a:off x="9412834" y="5120640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440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Evaluation + demo</a:t>
            </a:r>
            <a:endParaRPr lang="en-US" sz="1300" dirty="0"/>
          </a:p>
        </p:txBody>
      </p:sp>
      <p:sp>
        <p:nvSpPr>
          <p:cNvPr id="31" name="Bar Evaluation + demo"/>
          <p:cNvSpPr/>
          <p:nvPr/>
        </p:nvSpPr>
        <p:spPr>
          <a:xfrm>
            <a:off x="10049256" y="5477256"/>
            <a:ext cx="89977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797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Thesis + paper draft</a:t>
            </a:r>
            <a:endParaRPr lang="en-US" sz="1300" dirty="0"/>
          </a:p>
        </p:txBody>
      </p:sp>
      <p:sp>
        <p:nvSpPr>
          <p:cNvPr id="33" name="Bar Thesis + paper draft"/>
          <p:cNvSpPr/>
          <p:nvPr/>
        </p:nvSpPr>
        <p:spPr>
          <a:xfrm>
            <a:off x="10367467" y="5833872"/>
            <a:ext cx="1217981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Legend Simulation and data"/>
          <p:cNvSpPr/>
          <p:nvPr/>
        </p:nvSpPr>
        <p:spPr>
          <a:xfrm>
            <a:off x="365760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2336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Simulation and data</a:t>
            </a:r>
            <a:endParaRPr lang="en-US" sz="1100" dirty="0"/>
          </a:p>
        </p:txBody>
      </p:sp>
      <p:sp>
        <p:nvSpPr>
          <p:cNvPr id="36" name="Legend Machine learning"/>
          <p:cNvSpPr/>
          <p:nvPr/>
        </p:nvSpPr>
        <p:spPr>
          <a:xfrm>
            <a:off x="630936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38" name="Legend Reading, writing, reviews"/>
          <p:cNvSpPr/>
          <p:nvPr/>
        </p:nvSpPr>
        <p:spPr>
          <a:xfrm>
            <a:off x="8961120" y="6245352"/>
            <a:ext cx="27432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0" y="6199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Reading, writing, reviews</a:t>
            </a:r>
            <a:endParaRPr lang="en-US" sz="11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Semester 1 results: a working mini-version of the project</a:t>
            </a:r>
            <a:endParaRPr lang="en-US" sz="3400" dirty="0"/>
          </a:p>
        </p:txBody>
      </p:sp>
      <p:sp>
        <p:nvSpPr>
          <p:cNvPr id="3" name="Stat panel"/>
          <p:cNvSpPr/>
          <p:nvPr/>
        </p:nvSpPr>
        <p:spPr>
          <a:xfrm>
            <a:off x="548640" y="1463040"/>
            <a:ext cx="3108960" cy="45720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weeks, Oct 7 to Nov 10,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Safety net: these four results stand on their own even before the pile model exists.</a:t>
            </a:r>
            <a:endParaRPr lang="en-US" sz="1400" dirty="0"/>
          </a:p>
        </p:txBody>
      </p:sp>
      <p:sp>
        <p:nvSpPr>
          <p:cNvPr id="7" name="Result Approved scope note"/>
          <p:cNvSpPr/>
          <p:nvPr/>
        </p:nvSpPr>
        <p:spPr>
          <a:xfrm>
            <a:off x="3931920" y="146304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pproved scope note circle"/>
          <p:cNvSpPr/>
          <p:nvPr/>
        </p:nvSpPr>
        <p:spPr>
          <a:xfrm>
            <a:off x="420624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pproved scope not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0" y="188595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Approved scope note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Two-page note with the exact novelty claim, signed off by the guide.</a:t>
            </a:r>
            <a:endParaRPr lang="en-US" sz="1400" dirty="0"/>
          </a:p>
        </p:txBody>
      </p:sp>
      <p:sp>
        <p:nvSpPr>
          <p:cNvPr id="12" name="Result Checked soil model"/>
          <p:cNvSpPr/>
          <p:nvPr/>
        </p:nvSpPr>
        <p:spPr>
          <a:xfrm>
            <a:off x="7818120" y="146304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ecked soil model circle"/>
          <p:cNvSpPr/>
          <p:nvPr/>
        </p:nvSpPr>
        <p:spPr>
          <a:xfrm>
            <a:off x="809244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hecked soil mode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030" y="1885950"/>
            <a:ext cx="297180" cy="2971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8239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Checked soil model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Pore-pressure curves plotted next to the published benchmark.</a:t>
            </a:r>
            <a:endParaRPr lang="en-US" sz="1400" dirty="0"/>
          </a:p>
        </p:txBody>
      </p:sp>
      <p:sp>
        <p:nvSpPr>
          <p:cNvPr id="17" name="Result Load generator"/>
          <p:cNvSpPr/>
          <p:nvPr/>
        </p:nvSpPr>
        <p:spPr>
          <a:xfrm>
            <a:off x="3931920" y="384048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ad generator circle"/>
          <p:cNvSpPr/>
          <p:nvPr/>
        </p:nvSpPr>
        <p:spPr>
          <a:xfrm>
            <a:off x="42062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Load generator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830" y="426339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Load generator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function call returns any number of combined wave + earthquake histories.</a:t>
            </a:r>
            <a:endParaRPr lang="en-US" sz="1400" dirty="0"/>
          </a:p>
        </p:txBody>
      </p:sp>
      <p:sp>
        <p:nvSpPr>
          <p:cNvPr id="22" name="Result Mini-surrogate"/>
          <p:cNvSpPr/>
          <p:nvPr/>
        </p:nvSpPr>
        <p:spPr>
          <a:xfrm>
            <a:off x="7818120" y="3840480"/>
            <a:ext cx="3703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Mini-surrogate circle"/>
          <p:cNvSpPr/>
          <p:nvPr/>
        </p:nvSpPr>
        <p:spPr>
          <a:xfrm>
            <a:off x="80924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Mini-surrogate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0" y="426339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82396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Mini-surrogate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0924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FNO vs LSTM error on unseen earthquakes, and the measured speed-up over OpenSees.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methodologies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2000" dirty="0"/>
          </a:p>
        </p:txBody>
      </p:sp>
      <p:sp>
        <p:nvSpPr>
          <p:cNvPr id="4" name="Tech Simulation"/>
          <p:cNvSpPr/>
          <p:nvPr/>
        </p:nvSpPr>
        <p:spPr>
          <a:xfrm>
            <a:off x="548640" y="18745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Simulation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OpenSeesPy (u-p elements)</a:t>
            </a:r>
            <a:endParaRPr lang="en-US" sz="1400" dirty="0"/>
          </a:p>
        </p:txBody>
      </p:sp>
      <p:sp>
        <p:nvSpPr>
          <p:cNvPr id="7" name="Tech Earthquakes"/>
          <p:cNvSpPr/>
          <p:nvPr/>
        </p:nvSpPr>
        <p:spPr>
          <a:xfrm>
            <a:off x="3246120" y="18745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Earthquakes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PEER NGA-West2</a:t>
            </a:r>
            <a:endParaRPr lang="en-US" sz="1400" dirty="0"/>
          </a:p>
        </p:txBody>
      </p:sp>
      <p:sp>
        <p:nvSpPr>
          <p:cNvPr id="10" name="Tech Waves"/>
          <p:cNvSpPr/>
          <p:nvPr/>
        </p:nvSpPr>
        <p:spPr>
          <a:xfrm>
            <a:off x="54864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Waves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Python: JONSWAP + Morison</a:t>
            </a:r>
            <a:endParaRPr lang="en-US" sz="1400" dirty="0"/>
          </a:p>
        </p:txBody>
      </p:sp>
      <p:sp>
        <p:nvSpPr>
          <p:cNvPr id="13" name="Tech Sampling"/>
          <p:cNvSpPr/>
          <p:nvPr/>
        </p:nvSpPr>
        <p:spPr>
          <a:xfrm>
            <a:off x="324612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Sampling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SciPy Latin hypercube</a:t>
            </a:r>
            <a:endParaRPr lang="en-US" sz="1400" dirty="0"/>
          </a:p>
        </p:txBody>
      </p:sp>
      <p:sp>
        <p:nvSpPr>
          <p:cNvPr id="16" name="Tech Data"/>
          <p:cNvSpPr/>
          <p:nvPr/>
        </p:nvSpPr>
        <p:spPr>
          <a:xfrm>
            <a:off x="548640" y="39776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Data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HDF5 (h5py)</a:t>
            </a:r>
            <a:endParaRPr lang="en-US" sz="1400" dirty="0"/>
          </a:p>
        </p:txBody>
      </p:sp>
      <p:sp>
        <p:nvSpPr>
          <p:cNvPr id="19" name="Tech ML"/>
          <p:cNvSpPr/>
          <p:nvPr/>
        </p:nvSpPr>
        <p:spPr>
          <a:xfrm>
            <a:off x="3246120" y="39776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PyTorch + neuraloperator</a:t>
            </a:r>
            <a:endParaRPr lang="en-US" sz="1400" dirty="0"/>
          </a:p>
        </p:txBody>
      </p:sp>
      <p:sp>
        <p:nvSpPr>
          <p:cNvPr id="22" name="Tech Compute"/>
          <p:cNvSpPr/>
          <p:nvPr/>
        </p:nvSpPr>
        <p:spPr>
          <a:xfrm>
            <a:off x="548640" y="50292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Compute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413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College HPC; Kaggle / Colab</a:t>
            </a:r>
            <a:endParaRPr lang="en-US" sz="1400" dirty="0"/>
          </a:p>
        </p:txBody>
      </p:sp>
      <p:sp>
        <p:nvSpPr>
          <p:cNvPr id="25" name="Tech Plots, code"/>
          <p:cNvSpPr/>
          <p:nvPr/>
        </p:nvSpPr>
        <p:spPr>
          <a:xfrm>
            <a:off x="3246120" y="50292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Plots, code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5413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Matplotlib, ParaView, Git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8745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Finite elements: </a:t>
            </a:r>
            <a:r>
              <a:rPr lang="en-US" sz="1400" dirty="0">
                <a:solidFill>
                  <a:schemeClr val="tx1"/>
                </a:solidFill>
              </a:rPr>
              <a:t>2D plane-strain u-p (Biot) formulation with a nonlinear sand model (PDMY02 or PM4Sand).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Loading: </a:t>
            </a:r>
            <a:r>
              <a:rPr lang="en-US" sz="1400" dirty="0">
                <a:solidFill>
                  <a:schemeClr val="tx1"/>
                </a:solidFill>
              </a:rPr>
              <a:t>scaled earthquake records plus random sea states, joined with a random time gap.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Design of experiments: </a:t>
            </a:r>
            <a:r>
              <a:rPr lang="en-US" sz="1400" dirty="0">
                <a:solidFill>
                  <a:schemeClr val="tx1"/>
                </a:solidFill>
              </a:rPr>
              <a:t>Latin hypercube sampling of soil and load parameters.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Operator learning: </a:t>
            </a:r>
            <a:r>
              <a:rPr lang="en-US" sz="1400" dirty="0">
                <a:solidFill>
                  <a:schemeClr val="tx1"/>
                </a:solidFill>
              </a:rPr>
              <a:t>Fourier Neural Operator; LSTM as the baseline.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Physics-informed loss: </a:t>
            </a:r>
            <a:r>
              <a:rPr lang="en-US" sz="1400" dirty="0">
                <a:solidFill>
                  <a:schemeClr val="tx1"/>
                </a:solidFill>
              </a:rPr>
              <a:t>force and water mass balance via finite differences.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</a:rPr>
              <a:t>Validation: </a:t>
            </a:r>
            <a:r>
              <a:rPr lang="en-US" sz="1400" dirty="0">
                <a:solidFill>
                  <a:schemeClr val="tx1"/>
                </a:solidFill>
              </a:rPr>
              <a:t>held-out earthquakes, engineering error metrics, out-of-range tests.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bed">
  <a:themeElements>
    <a:clrScheme name="Seabed">
      <a:dk1>
        <a:srgbClr val="1A2B33"/>
      </a:dk1>
      <a:lt1>
        <a:srgbClr val="FFFFFF"/>
      </a:lt1>
      <a:dk2>
        <a:srgbClr val="0B3C49"/>
      </a:dk2>
      <a:lt2>
        <a:srgbClr val="EEF4F5"/>
      </a:lt2>
      <a:accent1>
        <a:srgbClr val="1B998B"/>
      </a:accent1>
      <a:accent2>
        <a:srgbClr val="E0A458"/>
      </a:accent2>
      <a:accent3>
        <a:srgbClr val="C8553D"/>
      </a:accent3>
      <a:accent4>
        <a:srgbClr val="5C7C89"/>
      </a:accent4>
      <a:accent5>
        <a:srgbClr val="D7EEEA"/>
      </a:accent5>
      <a:accent6>
        <a:srgbClr val="2E5E6E"/>
      </a:accent6>
      <a:hlink>
        <a:srgbClr val="1B998B"/>
      </a:hlink>
      <a:folHlink>
        <a:srgbClr val="5C7C89"/>
      </a:folHlink>
    </a:clrScheme>
    <a:fontScheme name="Seab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787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Seabed</vt:lpstr>
      <vt:lpstr>A fast AI surrogate for offshore wind monopiles under waves and earthquakes</vt:lpstr>
      <vt:lpstr>Why this matters: combined loads weaken the seabed</vt:lpstr>
      <vt:lpstr>Methodology: from simulations to a sub-second model</vt:lpstr>
      <vt:lpstr>Timeline: simulation first, machine learning second</vt:lpstr>
      <vt:lpstr>Semester 1 results: a working mini-version of the project</vt:lpstr>
      <vt:lpstr>Technologies and methodologies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FNO-PINN Monopile Project: Two-Semester Plan</dc:title>
  <dc:subject>PptxGenJS Presentation</dc:subject>
  <dc:creator>Shourya Ranjan</dc:creator>
  <cp:lastModifiedBy>Priyanshu Kumar Rai</cp:lastModifiedBy>
  <cp:revision>2</cp:revision>
  <dcterms:created xsi:type="dcterms:W3CDTF">2026-10-07T04:10:34Z</dcterms:created>
  <dcterms:modified xsi:type="dcterms:W3CDTF">2026-10-07T04:20:39Z</dcterms:modified>
</cp:coreProperties>
</file>